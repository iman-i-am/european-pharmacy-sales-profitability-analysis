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(€)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Germany</c:v>
                  </c:pt>
                  <c:pt idx="1">
                    <c:v>France</c:v>
                  </c:pt>
                  <c:pt idx="2">
                    <c:v>Italy</c:v>
                  </c:pt>
                  <c:pt idx="3">
                    <c:v>Belgium</c:v>
                  </c:pt>
                  <c:pt idx="4">
                    <c:v>Netherlands</c:v>
                  </c:pt>
                  <c:pt idx="5">
                    <c:v>Spain</c:v>
                  </c:pt>
                  <c:pt idx="6">
                    <c:v>Poland</c:v>
                  </c:pt>
                  <c:pt idx="7">
                    <c:v>Austria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1567634</c:v>
                </c:pt>
                <c:pt idx="1">
                  <c:v>1406812</c:v>
                </c:pt>
                <c:pt idx="2">
                  <c:v>1332156</c:v>
                </c:pt>
                <c:pt idx="3">
                  <c:v>1246511</c:v>
                </c:pt>
                <c:pt idx="4">
                  <c:v>947748</c:v>
                </c:pt>
                <c:pt idx="5">
                  <c:v>735600</c:v>
                </c:pt>
                <c:pt idx="6">
                  <c:v>714236</c:v>
                </c:pt>
                <c:pt idx="7">
                  <c:v>683281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E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F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Prescription</c:v>
                  </c:pt>
                  <c:pt idx="1">
                    <c:v>OTC</c:v>
                  </c:pt>
                  <c:pt idx="2">
                    <c:v>Wellness</c:v>
                  </c:pt>
                  <c:pt idx="3">
                    <c:v>Personal Care</c:v>
                  </c:pt>
                  <c:pt idx="4">
                    <c:v>Medical Devices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32.4</c:v>
                </c:pt>
                <c:pt idx="1">
                  <c:v>20.8</c:v>
                </c:pt>
                <c:pt idx="2">
                  <c:v>19.8</c:v>
                </c:pt>
                <c:pt idx="3">
                  <c:v>16.8</c:v>
                </c:pt>
                <c:pt idx="4">
                  <c:v>10.1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4F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Prescription</c:v>
                  </c:pt>
                  <c:pt idx="1">
                    <c:v>OTC</c:v>
                  </c:pt>
                  <c:pt idx="2">
                    <c:v>Wellness</c:v>
                  </c:pt>
                  <c:pt idx="3">
                    <c:v>Personal Care</c:v>
                  </c:pt>
                  <c:pt idx="4">
                    <c:v>Medical Devices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21.9</c:v>
                </c:pt>
                <c:pt idx="1">
                  <c:v>29.4</c:v>
                </c:pt>
                <c:pt idx="2">
                  <c:v>33.6</c:v>
                </c:pt>
                <c:pt idx="3">
                  <c:v>33.5</c:v>
                </c:pt>
                <c:pt idx="4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D4F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E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7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Pharmacy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Profitability Analytics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320040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120 pharmacies across 8 European countries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4290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4290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34290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34290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62,139 Transactions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PHARMA DISTRIBUTION  ·  PORTFOLIO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European pharmacy distributor across 8 countries needed clarity on what drives revenue — and where margins are being compressed across 120 pharmacies and 62,000+ annual transactions.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65176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993392"/>
            <a:ext cx="502920" cy="5029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29968"/>
            <a:ext cx="429768" cy="429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30352" y="30723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concentrated?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358444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high-revenue locations also the most profitable?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8288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828800"/>
            <a:ext cx="265176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64992" y="1993392"/>
            <a:ext cx="502920" cy="5029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029968"/>
            <a:ext cx="429768" cy="4297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6499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364992" y="30723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justify shelf space?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64992" y="358444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margin — not just volume.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35040" y="18288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828800"/>
            <a:ext cx="2651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99632" y="1993392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029968"/>
            <a:ext cx="429768" cy="4297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9963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199632" y="30723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promotions growing the business?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99632" y="358444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quietly eroding profitability?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62,139 transactions  ·  120 pharmacies  ·  220 products  ·  2024 –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SNAPSHOT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51760" cy="146304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54864" cy="1463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53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€8.63M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2494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 combined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54680" y="1024128"/>
            <a:ext cx="2651760" cy="146304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024128"/>
            <a:ext cx="54864" cy="1463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789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353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€2.42M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3291840" y="2011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Margin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91840" y="22494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 gross margin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89320" y="1024128"/>
            <a:ext cx="2651760" cy="146304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024128"/>
            <a:ext cx="54864" cy="1463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6480" y="1353312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€6.21M</a:t>
            </a:r>
            <a:endParaRPr lang="en-US" sz="3800" dirty="0"/>
          </a:p>
        </p:txBody>
      </p:sp>
      <p:sp>
        <p:nvSpPr>
          <p:cNvPr id="20" name="Text 16"/>
          <p:cNvSpPr/>
          <p:nvPr/>
        </p:nvSpPr>
        <p:spPr>
          <a:xfrm>
            <a:off x="6126480" y="2011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126480" y="22494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0040" y="2651760"/>
            <a:ext cx="2651760" cy="137160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2651760"/>
            <a:ext cx="54864" cy="1371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27157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445,793</a:t>
            </a:r>
            <a:endParaRPr lang="en-US" sz="3400" dirty="0"/>
          </a:p>
        </p:txBody>
      </p:sp>
      <p:sp>
        <p:nvSpPr>
          <p:cNvPr id="25" name="Text 21"/>
          <p:cNvSpPr/>
          <p:nvPr/>
        </p:nvSpPr>
        <p:spPr>
          <a:xfrm>
            <a:off x="457200" y="333756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7200" y="3566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62,139 transactions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54680" y="2651760"/>
            <a:ext cx="2651760" cy="137160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154680" y="2651760"/>
            <a:ext cx="54864" cy="1371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91840" y="27157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28.0%</a:t>
            </a:r>
            <a:endParaRPr lang="en-US" sz="3400" dirty="0"/>
          </a:p>
        </p:txBody>
      </p:sp>
      <p:sp>
        <p:nvSpPr>
          <p:cNvPr id="30" name="Text 26"/>
          <p:cNvSpPr/>
          <p:nvPr/>
        </p:nvSpPr>
        <p:spPr>
          <a:xfrm>
            <a:off x="3291840" y="333756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3291840" y="3566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27.7% – 28.5%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989320" y="2651760"/>
            <a:ext cx="2651760" cy="137160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989320" y="2651760"/>
            <a:ext cx="54864" cy="1371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126480" y="27157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€19.37</a:t>
            </a:r>
            <a:endParaRPr lang="en-US" sz="3400" dirty="0"/>
          </a:p>
        </p:txBody>
      </p:sp>
      <p:sp>
        <p:nvSpPr>
          <p:cNvPr id="35" name="Text 31"/>
          <p:cNvSpPr/>
          <p:nvPr/>
        </p:nvSpPr>
        <p:spPr>
          <a:xfrm>
            <a:off x="6126480" y="333756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126480" y="3566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unit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70248"/>
            <a:ext cx="347472" cy="34747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14400" y="4160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 YoY Revenue Growth  ·  €4.22M (2024) → €4.41M (2025)  ·  Margin held flat at 28.0% — disciplined pricing, not growth at any cost.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  —  GEOGRAPHIC PERFORMANCE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1005840"/>
            <a:ext cx="3063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806440" y="1005840"/>
            <a:ext cx="64008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0972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3640" y="1078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= 49.9% of Revenue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63640" y="1417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Germany, France &amp; Italy drive half the network. Germany alone = 18.2%.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806440" y="2240280"/>
            <a:ext cx="3063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806440" y="2240280"/>
            <a:ext cx="64008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33172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2313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 — Hidden Strength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263640" y="2651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in revenue but highest GM at 28.2%. Highest margin efficiency in network.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806440" y="3474720"/>
            <a:ext cx="3063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806440" y="3474720"/>
            <a:ext cx="64008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35661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63640" y="35478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&amp; Poland Lagging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263640" y="3886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share in viable markets. Gap between potential and performance.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D8F3DC"/>
          </a:solidFill>
          <a:ln w="12700">
            <a:solidFill>
              <a:srgbClr val="D9E8D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countries maintain GM within a tight 27.8% – 28.2% band — consistent pricing discipline across the network.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 —  PRODUCT CATEGORY &amp; MARGIN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1005840"/>
            <a:ext cx="3063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806440" y="1005840"/>
            <a:ext cx="64008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0972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3640" y="1078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 </a:t>
            </a:r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 GM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263640" y="1417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(32.4%) — lowest margin. 6pp below network average.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806440" y="2103120"/>
            <a:ext cx="3063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806440" y="2103120"/>
            <a:ext cx="64008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1945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21762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 </a:t>
            </a:r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GM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263640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margin in network. +€11,500 annual margin per 1% shift from Prescription.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806440" y="3200400"/>
            <a:ext cx="3063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806440" y="3200400"/>
            <a:ext cx="64008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329184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63640" y="32735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vs Generic  </a:t>
            </a:r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+3pp edge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263640" y="3611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carry a 3pp margin advantage. Generic substitution compresses margins.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D8F3DC"/>
          </a:solidFill>
          <a:ln w="12700">
            <a:solidFill>
              <a:srgbClr val="D9E8D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High-volume / low-margin products flagged: Medica Cough Syrup (24.6%), VitaCare Allergy Tabs (24.0%), AllerFree Cough Syrup (23.8%) — pricing &amp; sourcing review recommended.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  —  PROMOTIONAL IMPACT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023360" cy="388620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1430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9.1pp</a:t>
            </a:r>
            <a:endParaRPr lang="en-US" sz="7800" dirty="0"/>
          </a:p>
        </p:txBody>
      </p:sp>
      <p:sp>
        <p:nvSpPr>
          <p:cNvPr id="9" name="Text 6"/>
          <p:cNvSpPr/>
          <p:nvPr/>
        </p:nvSpPr>
        <p:spPr>
          <a:xfrm>
            <a:off x="27432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PENALTY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8163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promoted sale vs standard pricing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3108960" cy="3657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291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€83,000 in forgone margin annually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38221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= 10.6% of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carry only 19.9% margin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29.0% for standard sales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1005840"/>
            <a:ext cx="4297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005840"/>
            <a:ext cx="64008" cy="10241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06984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01768" y="1042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Non-Promotional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81728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€7,722,676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81728" y="1600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053328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053328" y="1600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424928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29.0%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424928" y="1600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572000" y="2121408"/>
            <a:ext cx="4297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0" y="2121408"/>
            <a:ext cx="64008" cy="10241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185416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01768" y="2157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681728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€911,301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681728" y="2715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053328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053328" y="2715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424928" y="2432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19.9%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424928" y="27157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GM%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572000" y="3246120"/>
            <a:ext cx="4297680" cy="164592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572000" y="3246120"/>
            <a:ext cx="64008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09160" y="3310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709160" y="3621024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promotions to slow-moving and end-of-life stock only. Every promoted euro currently costs the business 9 cents in margin compared to standard pricing.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1078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Promotions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44475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Recover 9.1pp on promoted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170078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 slow-moving and end-of-life SKUs. Broad use costs €83,000+ in annual forgone margin.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23317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331720"/>
            <a:ext cx="64008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68680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Wellness &amp; Personal Care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277063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+€11,500 per 1% revenue shift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" y="302666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 exceed 33% GM vs 28% network avg. Shift 2% = +€23,000 annual margin gain.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365760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68680" y="37307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Low-Margin Products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409651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Margin gain across ~9,500 annual units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435254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flagged products: Medica Cough Syrup, VitaCare Allergy Tabs, AllerFree Cough Syrup.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10058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1005840"/>
            <a:ext cx="64008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10912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440680" y="1078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Germany &amp; Belgium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40680" y="144475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Highest revenue + margin combination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40680" y="170078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leads revenue (18.2%), Belgium leads margin (28.2%). Both support urban investment.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46320" y="23317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46320" y="2331720"/>
            <a:ext cx="64008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10912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440680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Suburban Opportunities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40680" y="277063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36% of revenue at equal margins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40680" y="302666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GM equals Urban — gap is volume only. Suburban build-out may offer better site ROI.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1188720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78992" y="123444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1234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8992" y="18562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1 fact table (62,139 rows) joined to 3 dimension tables. Constraints, foreign keys, and indexes for query performance.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05156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188720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13832" y="123444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13832" y="1234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13832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(6 Scripts)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13832" y="18562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analysis: KPIs, geography, product categories, promotions, and data quality. All README findings validated via SQL.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278892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2926080"/>
            <a:ext cx="566928" cy="5669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78992" y="297180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78992" y="2971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" y="3264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78992" y="35935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transformations. DAX measure for Gross Margin %. Year slicer for 2024 vs 2025 comparison.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09160" y="2788920"/>
            <a:ext cx="4206240" cy="1536192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46320" y="2926080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513832" y="297180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13832" y="2971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513832" y="32644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513832" y="359359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translated into 5 actionable recommendations with quantified expected impact for both technical and non-technical audiences.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4645152"/>
            <a:ext cx="8595360" cy="320040"/>
          </a:xfrm>
          <a:prstGeom prst="rect">
            <a:avLst/>
          </a:prstGeom>
          <a:solidFill>
            <a:srgbClr val="1A3C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OnyxData &amp; ZoomCharts Jan–Feb Challenge  ·  All SQL queries, DAX measures, and insights are original work adapted for portfolio demonstration.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European Pharmacy Sales &amp; Profitability Analytics</dc:title>
  <dc:subject>PptxGenJS Presentation</dc:subject>
  <dc:creator>Portfolio Project</dc:creator>
  <cp:lastModifiedBy>Portfolio Project</cp:lastModifiedBy>
  <cp:revision>1</cp:revision>
  <dcterms:created xsi:type="dcterms:W3CDTF">2026-03-19T07:19:00Z</dcterms:created>
  <dcterms:modified xsi:type="dcterms:W3CDTF">2026-03-19T07:19:00Z</dcterms:modified>
</cp:coreProperties>
</file>